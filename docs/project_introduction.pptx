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지방보조금 부정수급</a:t>
            </a:r>
            <a:br/>
            <a:r>
              <a:t>위험도 측정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66666"/>
                </a:solidFill>
                <a:latin typeface="맑은 고딕"/>
              </a:rPr>
              <a:t>프로젝트 소개 · 로컬 웹 서비스</a:t>
            </a:r>
          </a:p>
          <a:p>
            <a:r>
              <a:rPr sz="1600" b="0">
                <a:solidFill>
                  <a:srgbClr val="666666"/>
                </a:solidFill>
                <a:latin typeface="맑은 고딕"/>
              </a:rPr>
              <a:t>2026-07  |  대상: 업무 담당자·관리자 (비전문가 포함)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4114800" cy="50292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로컬 전용 · 127.0.0.1 · 외부 클라우드·과금 없음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1.  프로젝트 개발 목적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2.  환경 구성 · PC 요구사항 · raw 데이터 관리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3.  웹 서비스 구동 방법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4.  업무 순서 (흐름도 · 예외 케이스)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5.  웹 메뉴별 설명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6.  학습·평가 vs 추론 · 업무 활용 예시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1. 프로젝트 개발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맑은 고딕"/>
              </a:rPr>
              <a:t>왜 이 시스템이 필요한가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2011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  <a:latin typeface="맑은 고딕"/>
              </a:rPr>
              <a:t>많은</a:t>
            </a:r>
            <a:br/>
            <a:r>
              <a:t>보조금 사업 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371600"/>
            <a:ext cx="3474720" cy="201168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  <a:latin typeface="맑은 고딕"/>
              </a:rPr>
              <a:t>부정수급은</a:t>
            </a:r>
            <a:br/>
            <a:r>
              <a:t>극소수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371600"/>
            <a:ext cx="3474720" cy="20116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  <a:latin typeface="맑은 고딕"/>
              </a:rPr>
              <a:t>→ 고위험 건</a:t>
            </a:r>
            <a:br/>
            <a:r>
              <a:t>우선 점검 필요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3429000"/>
            <a:ext cx="0" cy="274320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0" y="3429000"/>
            <a:ext cx="0" cy="274320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3931920"/>
            <a:ext cx="10972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과거 적발·등록·확정 데이터(타겟 있음)로 AI 모델을 학습하고,</a:t>
            </a:r>
            <a:br/>
            <a:r>
              <a:t>각 사업 건에 위험도 점수(0~1,000)를 부여해</a:t>
            </a:r>
            <a:br/>
            <a:r>
              <a:t>점검 우선순위를 객관적으로 정리합니다.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시스템이 하는 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맑은 고딕"/>
              </a:rPr>
              <a:t>데이터 → 모델 → 점수 → 점검 우선순위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377440" cy="128016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1B5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33333"/>
                </a:solidFill>
                <a:latin typeface="맑은 고딕"/>
              </a:rPr>
              <a:t>raw CSV</a:t>
            </a:r>
            <a:br/>
            <a:r>
              <a:t>(학습/추론)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63240" y="2240280"/>
            <a:ext cx="411480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20440" y="1828800"/>
            <a:ext cx="2377440" cy="1280160"/>
          </a:xfrm>
          <a:prstGeom prst="roundRect">
            <a:avLst/>
          </a:prstGeom>
          <a:solidFill>
            <a:srgbClr val="2E7D63"/>
          </a:solidFill>
          <a:ln w="19050">
            <a:solidFill>
              <a:srgbClr val="1B5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전처리</a:t>
            </a:r>
            <a:br/>
            <a:r>
              <a:t>·학습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2240280"/>
            <a:ext cx="411480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2377440" cy="128016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1B5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위험도</a:t>
            </a:r>
            <a:br/>
            <a:r>
              <a:t>점수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23960" y="2240280"/>
            <a:ext cx="411480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81160" y="1828800"/>
            <a:ext cx="2377440" cy="128016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1B5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점검</a:t>
            </a:r>
            <a:br/>
            <a:r>
              <a:t>우선순위표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5029200" cy="256032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A. 학습·평가 (raw/)</a:t>
            </a:r>
            <a:br/>
            <a:r>
              <a:t>· 모델 생성 · 성능 검증</a:t>
            </a:r>
            <a:br/>
            <a:r>
              <a:t>· 타겟 포착 분포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657600"/>
            <a:ext cx="5029200" cy="25603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B. 추론 (raw_inference/)</a:t>
            </a:r>
            <a:br/>
            <a:r>
              <a:t>· 라벨 미지 최신 데이터</a:t>
            </a:r>
            <a:br/>
            <a:r>
              <a:t>· 점검 우선순위표 · Excel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기대 효과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651760" cy="50292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점검 효율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651760" cy="137160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한정 인력으로</a:t>
            </a:r>
            <a:br/>
            <a:r>
              <a:t>고위험 건 우선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463040"/>
            <a:ext cx="2651760" cy="50292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객관성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103120"/>
            <a:ext cx="2651760" cy="137160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동일 규칙·모델</a:t>
            </a:r>
            <a:br/>
            <a:r>
              <a:t>재현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651760" cy="50292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보안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2651760" cy="137160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로컬 PC만</a:t>
            </a:r>
            <a:br/>
            <a:r>
              <a:t>클라우드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463040"/>
            <a:ext cx="2651760" cy="50292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2103120"/>
            <a:ext cx="2651760" cy="137160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Test에서 포착</a:t>
            </a:r>
            <a:br/>
            <a:r>
              <a:t>품질 확인 후 추론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사용 알고리즘 (5종 비교)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109728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★ 주 운영: RandomForest</a:t>
            </a:r>
            <a:br/>
            <a:r>
              <a:t>점수·점검 우선순위의 기본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029200" cy="1097280"/>
          </a:xfrm>
          <a:prstGeom prst="roundRect">
            <a:avLst/>
          </a:prstGeom>
          <a:solidFill>
            <a:srgbClr val="2E7D63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★ 보조: CatBoost</a:t>
            </a:r>
            <a:br/>
            <a:r>
              <a:t>교차 확인·미탐 보완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10332720" cy="91440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참고: Stacked Ensemble · EasyEnsemble · Gradient Boosting (비교·리포트용)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2. 환경 구성 — 폴더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맑은 고딕"/>
              </a:rPr>
              <a:t>프로그램과 데이터를 분리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303520" cy="47548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LocalSubsidies_SupervisedLearning/</a:t>
            </a:r>
            <a:br/>
            <a:r>
              <a:t>  app/        ← 웹 화면</a:t>
            </a:r>
            <a:br/>
            <a:r>
              <a:t>  scripts/    ← 파이프라인</a:t>
            </a:r>
            <a:br/>
            <a:r>
              <a:t>  configs/    ← 설정</a:t>
            </a:r>
            <a:br/>
            <a:r>
              <a:t>  RunWeb.bat  ← 실행</a:t>
            </a:r>
            <a:br/>
            <a:br/>
            <a:r>
              <a:t>✓ GitHub 가능 (코드만)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280160"/>
            <a:ext cx="5486400" cy="475488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LocalSubsidies_ML_Data/  (data_root)</a:t>
            </a:r>
            <a:br/>
            <a:r>
              <a:t>  raw/           학습·평가 CSV</a:t>
            </a:r>
            <a:br/>
            <a:r>
              <a:t>  raw_inference/ 추론 CSV</a:t>
            </a:r>
            <a:br/>
            <a:r>
              <a:t>  processed/     전처리 결과</a:t>
            </a:r>
            <a:br/>
            <a:r>
              <a:t>  algorithms/    모델·점수</a:t>
            </a:r>
            <a:br/>
            <a:r>
              <a:t>  ops/           운영 DB</a:t>
            </a:r>
            <a:br/>
            <a:r>
              <a:t>  runs/          Job 로그</a:t>
            </a:r>
            <a:br/>
            <a:br/>
            <a:r>
              <a:t>✗ GitHub·클라oud 금지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6172200"/>
            <a:ext cx="11064240" cy="5029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맑은 고딕"/>
              </a:rPr>
              <a:t>⚠ 민감 CSV·행단위 점수·모델은 항상 ML_Data(data_root)에만 보관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PC 요구사항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맑은 고딕"/>
              </a:rPr>
              <a:t>사양에 따라 작업 능력·소요 시간이 달라집니다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1B5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쾌적</a:t>
                      </a:r>
                    </a:p>
                  </a:txBody>
                  <a:tcPr>
                    <a:solidFill>
                      <a:srgbClr val="1B5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보통</a:t>
                      </a:r>
                    </a:p>
                  </a:txBody>
                  <a:tcPr>
                    <a:solidFill>
                      <a:srgbClr val="1B5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부족</a:t>
                      </a:r>
                    </a:p>
                  </a:txBody>
                  <a:tcPr>
                    <a:solidFill>
                      <a:srgbClr val="1B5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업무 영향</a:t>
                      </a:r>
                    </a:p>
                  </a:txBody>
                  <a:tcPr>
                    <a:solidFill>
                      <a:srgbClr val="1B5E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RAM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≥32GB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16~32GB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&lt;16GB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05 학습 메모리 부족 가능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≥8코어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4~7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&lt;4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수 시간~반나절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디스크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≥50GB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20~50GB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&lt;20GB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모델·점수 저장 공간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200400"/>
            <a:ext cx="3474720" cy="91440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맑은 고딕"/>
              </a:rPr>
              <a:t>5종 일괄 학습 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39" y="3200400"/>
            <a:ext cx="3474720" cy="914400"/>
          </a:xfrm>
          <a:prstGeom prst="roundRect">
            <a:avLst/>
          </a:prstGeom>
          <a:solidFill>
            <a:srgbClr val="E65C0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맑은 고딕"/>
              </a:rPr>
              <a:t>수 시간 · 절전 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8" y="3200400"/>
            <a:ext cx="3474720" cy="914400"/>
          </a:xfrm>
          <a:prstGeom prst="roundRect">
            <a:avLst/>
          </a:prstGeom>
          <a:solidFill>
            <a:srgbClr val="C62828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맑은 고딕"/>
              </a:rPr>
              <a:t>RF+CatBoost만 권장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89120"/>
            <a:ext cx="1097280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웹 메뉴 「내 PC 사양 체크」에서 본인 PC를 즉시 확인할 수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raw 데이터 관리 (필독)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맑은 고딕"/>
              </a:rPr>
              <a:t>개인정보·업무기밀 유출 방지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3520440" cy="45720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위치 분리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3520440" cy="10972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맑은 고딕"/>
              </a:rPr>
              <a:t>프로젝트 밖</a:t>
            </a:r>
            <a:br/>
            <a:r>
              <a:t>ML_Data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25880"/>
            <a:ext cx="3520440" cy="45720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GitHub 금지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828800"/>
            <a:ext cx="3520440" cy="10972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맑은 고딕"/>
              </a:rPr>
              <a:t>raw·점수·모델</a:t>
            </a:r>
            <a:br/>
            <a:r>
              <a:t>업로드 금지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325880"/>
            <a:ext cx="3520440" cy="45720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AI 주의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828800"/>
            <a:ext cx="3520440" cy="10972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맑은 고딕"/>
              </a:rPr>
              <a:t>CSV 샘플</a:t>
            </a:r>
            <a:br/>
            <a:r>
              <a:t>붙여넣기 금지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154680"/>
            <a:ext cx="3520440" cy="45720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로컬만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657600"/>
            <a:ext cx="3520440" cy="10972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맑은 고딕"/>
              </a:rPr>
              <a:t>127.0.0.1</a:t>
            </a:r>
            <a:br/>
            <a:r>
              <a:t>터널 금지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154680"/>
            <a:ext cx="3520440" cy="45720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DB 메타만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657600"/>
            <a:ext cx="3520440" cy="10972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맑은 고딕"/>
              </a:rPr>
              <a:t>파일명·건수</a:t>
            </a:r>
            <a:br/>
            <a:r>
              <a:t>내용 미저장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154680"/>
            <a:ext cx="3520440" cy="45720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백업 통제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3657600"/>
            <a:ext cx="3520440" cy="10972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맑은 고딕"/>
              </a:rPr>
              <a:t>암호화·권한</a:t>
            </a:r>
            <a:br/>
            <a:r>
              <a:t>검토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212080"/>
            <a:ext cx="10972800" cy="10972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raw/ = 학습·평가 (타겟 있음)  |  raw_inference/ = 추론 (타겟 없어도 됨)</a:t>
            </a:r>
            <a:br/>
            <a:r>
              <a:t>스키마: TLS4902R_Layout 동일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최초 1회 설치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280160"/>
            <a:ext cx="4389120" cy="59436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Python 3.10+ 설치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35040.0" y="1874520"/>
            <a:ext cx="0.0" cy="347472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40480" y="2221992"/>
            <a:ext cx="4389120" cy="59436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venv + pip install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.0" y="2816352"/>
            <a:ext cx="0.0" cy="347472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0" y="3163824"/>
            <a:ext cx="4389120" cy="59436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local.yaml (data_root)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.0" y="3758184"/>
            <a:ext cx="0.0" cy="347472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0480" y="4105656"/>
            <a:ext cx="4389120" cy="59436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raw/ · raw_inference/ 생성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.0" y="4700016"/>
            <a:ext cx="0.0" cy="347472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40480" y="5047488"/>
            <a:ext cx="4389120" cy="59436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RunWeb.bat 실행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3. 웹 서비스 구동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234440"/>
            <a:ext cx="502920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① data_root 확인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89320.0" y="1874520"/>
            <a:ext cx="0.0" cy="347472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74720" y="2221992"/>
            <a:ext cx="502920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② RunWeb.bat 더블클릭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89320.0" y="2862072"/>
            <a:ext cx="0.0" cy="347472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4720" y="3209544"/>
            <a:ext cx="502920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③ http://127.0.0.1:8501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.0" y="3849624"/>
            <a:ext cx="0.0" cy="347472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4197096"/>
            <a:ext cx="502920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④ 상단 Job 배너로 진행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5029200" cy="118872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종료: RunWeb.bat</a:t>
            </a:r>
            <a:br/>
            <a:r>
              <a:t>콘솔 창 닫기</a:t>
            </a:r>
            <a:br/>
            <a:r>
              <a:t>→ 서버·Job 함께 종료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5029200"/>
            <a:ext cx="5486400" cy="11887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주의: 코드 수정 후</a:t>
            </a:r>
            <a:br/>
            <a:r>
              <a:t>RunWeb.bat 재시작</a:t>
            </a:r>
            <a:br/>
            <a:r>
              <a:t>브라우저만 새로고침 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4. 전반 업무 순서 — 큰 그림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097280"/>
            <a:ext cx="4572000" cy="50292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PC 사양 확인 · raw 배치 · RunWeb.bat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286000"/>
            <a:ext cx="7315200" cy="100584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A. 모델 학습 및 평가 (라벨 있는 raw/)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0" y="3337560"/>
            <a:ext cx="0" cy="320040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86000" y="3703320"/>
            <a:ext cx="7315200" cy="100584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B. 추론 (라벨 없는 raw_inference/) → 점검 우선순위표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10972800" cy="137160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학습·평가(A)를 먼저 완료한 뒤 추론(B)을 실행합니다.</a:t>
            </a:r>
            <a:br/>
            <a:r>
              <a:t>A 없이 B만 실행하면 모델이 없어 추론할 수 없습니다.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A. 학습·평가 — 정상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데이터 등록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37360" y="1828800"/>
            <a:ext cx="0" cy="201168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057400"/>
            <a:ext cx="256032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01 통합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2697480"/>
            <a:ext cx="0" cy="201168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926080"/>
            <a:ext cx="256032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02 타겟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3566160"/>
            <a:ext cx="0" cy="201168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3794760"/>
            <a:ext cx="256032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03 전처리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4434840"/>
            <a:ext cx="0" cy="201168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4663440"/>
            <a:ext cx="256032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04 누수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743200"/>
            <a:ext cx="1371600" cy="64008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188720"/>
            <a:ext cx="256032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05 학습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09360" y="1828800"/>
            <a:ext cx="0" cy="201168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0" y="2057400"/>
            <a:ext cx="256032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06 Feature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9360" y="2697480"/>
            <a:ext cx="0" cy="201168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2926080"/>
            <a:ext cx="256032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07 평가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09360" y="3566160"/>
            <a:ext cx="0" cy="201168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0" y="3794760"/>
            <a:ext cx="256032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08 순위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09360" y="4434840"/>
            <a:ext cx="0" cy="201168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0" y="4663440"/>
            <a:ext cx="256032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09·10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188720"/>
            <a:ext cx="3474720" cy="411480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확인 메뉴</a:t>
            </a:r>
            <a:br/>
            <a:br/>
            <a:r>
              <a:t>· 모델 비교·평가</a:t>
            </a:r>
            <a:br/>
            <a:r>
              <a:t>· 타겟 포착 분포</a:t>
            </a:r>
            <a:br/>
            <a:r>
              <a:t>· 대시보드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063240" y="2880360"/>
            <a:ext cx="1828800" cy="411480"/>
          </a:xfrm>
          <a:prstGeom prst="rightArrow">
            <a:avLst/>
          </a:prstGeom>
          <a:solidFill>
            <a:srgbClr val="2E7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예외: 04 누수점검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188720"/>
            <a:ext cx="4572000" cy="566928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04 FAIL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0.0" y="1755648"/>
            <a:ext cx="0.0" cy="347472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0" y="2103120"/>
            <a:ext cx="4572000" cy="566928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의심 피처 확인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.0" y="2670048"/>
            <a:ext cx="0.0" cy="347472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3017520"/>
            <a:ext cx="4572000" cy="566928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제외 선택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.0" y="3584448"/>
            <a:ext cx="0.0" cy="347472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0" y="3931920"/>
            <a:ext cx="4572000" cy="566928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「03부터 재개」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.0" y="4498848"/>
            <a:ext cx="0.0" cy="347472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0" y="4846320"/>
            <a:ext cx="4572000" cy="566928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04 PASS → 05~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03520"/>
            <a:ext cx="10972800" cy="8229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누수 = 모델이 '정답을 미리 아는' 컬럼을 학습 → 점수가 비현실적으로 좋아짐 → 반드시 PASS 후 학습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B. 추론 — 운영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143000"/>
            <a:ext cx="4754880" cy="59436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모델 존재 (05·06 완료)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0.0" y="1737360"/>
            <a:ext cx="0.0" cy="347472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566160" y="2084832"/>
            <a:ext cx="4754880" cy="59436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raw_inference 업로드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.0" y="2679192"/>
            <a:ext cx="0.0" cy="347472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66160" y="3026664"/>
            <a:ext cx="4754880" cy="59436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추론 → 실행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.0" y="3621024"/>
            <a:ext cx="0.0" cy="347472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3968496"/>
            <a:ext cx="4754880" cy="59436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결과 확인 · Excel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.0" y="4562856"/>
            <a:ext cx="0.0" cy="347472"/>
          </a:xfrm>
          <a:prstGeom prst="line">
            <a:avLst/>
          </a:prstGeom>
          <a:ln w="31750">
            <a:solidFill>
              <a:srgbClr val="2E7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4910328"/>
            <a:ext cx="4754880" cy="59436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대시보드 요약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29200"/>
            <a:ext cx="10972800" cy="91440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6월 데이터가 늦게 들어오면: CSV 추가 후 11 추론 재실행 (전체 기간 재산출)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케이스별 — 어디서 무엇을 하나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상황</a:t>
                      </a:r>
                    </a:p>
                  </a:txBody>
                  <a:tcPr>
                    <a:solidFill>
                      <a:srgbClr val="1B5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다음 행동</a:t>
                      </a:r>
                    </a:p>
                  </a:txBody>
                  <a:tcPr>
                    <a:solidFill>
                      <a:srgbClr val="1B5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확인 메뉴</a:t>
                      </a:r>
                    </a:p>
                  </a:txBody>
                  <a:tcPr>
                    <a:solidFill>
                      <a:srgbClr val="1B5E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처음 시작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raw 업로드 → 01~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학습 파이프라인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모델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05까지 실행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모델 비교·평가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성능 확인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07·08 후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점검 기준 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10 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타겟 포착 분포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2026 미지 데이터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raw_inference → 11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추론 → 결과 확인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PC 느림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RF+CatBoost만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내 PC 사양 체크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5. 웹 메뉴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4114800" cy="502920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1B5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대시보드</a:t>
            </a:r>
            <a:br/>
            <a:r>
              <a:t>데이터 등록</a:t>
            </a:r>
            <a:br/>
            <a:r>
              <a:t>▼ 모델 학습 및 평가</a:t>
            </a:r>
            <a:br/>
            <a:r>
              <a:t>    ├ 학습 파이프라인</a:t>
            </a:r>
            <a:br/>
            <a:r>
              <a:t>    ├ 모델 비교·평가</a:t>
            </a:r>
            <a:br/>
            <a:r>
              <a:t>    └ 타겟 포착 분포</a:t>
            </a:r>
            <a:br/>
            <a:r>
              <a:t>▼ 추론</a:t>
            </a:r>
            <a:br/>
            <a:r>
              <a:t>    ├ 추론 실행</a:t>
            </a:r>
            <a:br/>
            <a:r>
              <a:t>    └ 결과 확인</a:t>
            </a:r>
            <a:br/>
            <a:r>
              <a:t>Run 이력</a:t>
            </a:r>
            <a:br/>
            <a:r>
              <a:t>내 PC 사양 체크</a:t>
            </a:r>
            <a:br/>
            <a:r>
              <a:t>사용자 가이드</a:t>
            </a:r>
            <a:br/>
            <a:r>
              <a:t>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188720"/>
            <a:ext cx="6583680" cy="109728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상단 전역 배너</a:t>
            </a:r>
            <a:br/>
            <a:r>
              <a:t>Job 이름 · 진행률 % · 취소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2468880"/>
            <a:ext cx="6583680" cy="3749039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백그라운드 Job: 학습·추론 실행 중</a:t>
            </a:r>
            <a:br/>
            <a:r>
              <a:t>다른 메뉴로 이동해도 계속 진행</a:t>
            </a:r>
            <a:br/>
            <a:r>
              <a:t>RunWeb.bat 창은 반드시 유지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6. 학습·평가 vs 추론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394960" cy="484632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1B5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학습·평가</a:t>
            </a:r>
            <a:br/>
            <a:br/>
            <a:r>
              <a:t>· raw/ (타겟 있음)</a:t>
            </a:r>
            <a:br/>
            <a:r>
              <a:t>· 모델 만들기</a:t>
            </a:r>
            <a:br/>
            <a:r>
              <a:t>· 성능·포착 검증</a:t>
            </a:r>
            <a:br/>
            <a:r>
              <a:t>· 타겟 포착 분포</a:t>
            </a:r>
            <a:br/>
            <a:r>
              <a:t>· 실제라벨 있음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5394960" cy="48463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추론</a:t>
            </a:r>
            <a:br/>
            <a:br/>
            <a:r>
              <a:t>· raw_inference/</a:t>
            </a:r>
            <a:br/>
            <a:r>
              <a:t>· 점검 대상 선정</a:t>
            </a:r>
            <a:br/>
            <a:r>
              <a:t>· 점검 우선순위표</a:t>
            </a:r>
            <a:br/>
            <a:r>
              <a:t>· Excel 내보내기</a:t>
            </a:r>
            <a:br/>
            <a:r>
              <a:t>· 라벨 없음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623560" y="3200400"/>
            <a:ext cx="457200" cy="548640"/>
          </a:xfrm>
          <a:prstGeom prst="rightArrow">
            <a:avLst/>
          </a:prstGeom>
          <a:solidFill>
            <a:srgbClr val="2E7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점검 우선순위 — 4×4 개념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234440"/>
            <a:ext cx="1371600" cy="50292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주＼보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234440"/>
            <a:ext cx="1234440" cy="502920"/>
          </a:xfrm>
          <a:prstGeom prst="roundRect">
            <a:avLst/>
          </a:prstGeom>
          <a:solidFill>
            <a:srgbClr val="2E7D63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A</a:t>
            </a:r>
            <a:br/>
            <a:r>
              <a:t>(상위1%)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234440"/>
            <a:ext cx="1234440" cy="502920"/>
          </a:xfrm>
          <a:prstGeom prst="roundRect">
            <a:avLst/>
          </a:prstGeom>
          <a:solidFill>
            <a:srgbClr val="2E7D63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B</a:t>
            </a:r>
            <a:br/>
            <a:r>
              <a:t>(1~5%)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234440"/>
            <a:ext cx="1234440" cy="502920"/>
          </a:xfrm>
          <a:prstGeom prst="roundRect">
            <a:avLst/>
          </a:prstGeom>
          <a:solidFill>
            <a:srgbClr val="2E7D63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C</a:t>
            </a:r>
            <a:br/>
            <a:r>
              <a:t>(5~10%)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234440"/>
            <a:ext cx="1234440" cy="502920"/>
          </a:xfrm>
          <a:prstGeom prst="roundRect">
            <a:avLst/>
          </a:prstGeom>
          <a:solidFill>
            <a:srgbClr val="2E7D63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D</a:t>
            </a:r>
            <a:br/>
            <a:r>
              <a:t>(10%↓)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783080"/>
            <a:ext cx="1371600" cy="1234440"/>
          </a:xfrm>
          <a:prstGeom prst="roundRect">
            <a:avLst/>
          </a:prstGeom>
          <a:solidFill>
            <a:srgbClr val="2E7D63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A</a:t>
            </a:r>
            <a:br/>
            <a:r>
              <a:t>(상위1%)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783080"/>
            <a:ext cx="1234440" cy="123444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우선순위</a:t>
            </a:r>
            <a:br/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783080"/>
            <a:ext cx="1234440" cy="123444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우선순위</a:t>
            </a:r>
            <a:br/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783080"/>
            <a:ext cx="1234440" cy="123444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우선순위</a:t>
            </a:r>
            <a:br/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783080"/>
            <a:ext cx="1234440" cy="1234440"/>
          </a:xfrm>
          <a:prstGeom prst="roundRect">
            <a:avLst/>
          </a:prstGeom>
          <a:solidFill>
            <a:srgbClr val="1B5E4A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우선순위</a:t>
            </a:r>
            <a:br/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017520"/>
            <a:ext cx="1371600" cy="1234440"/>
          </a:xfrm>
          <a:prstGeom prst="roundRect">
            <a:avLst/>
          </a:prstGeom>
          <a:solidFill>
            <a:srgbClr val="2E7D63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B</a:t>
            </a:r>
            <a:br/>
            <a:r>
              <a:t>(1~5%)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017520"/>
            <a:ext cx="1234440" cy="1234440"/>
          </a:xfrm>
          <a:prstGeom prst="roundRect">
            <a:avLst/>
          </a:prstGeom>
          <a:solidFill>
            <a:srgbClr val="2E7D63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우선순위</a:t>
            </a:r>
            <a:br/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017520"/>
            <a:ext cx="1234440" cy="1234440"/>
          </a:xfrm>
          <a:prstGeom prst="roundRect">
            <a:avLst/>
          </a:prstGeom>
          <a:solidFill>
            <a:srgbClr val="2E7D63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우선순위</a:t>
            </a:r>
            <a:br/>
            <a: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3017520"/>
            <a:ext cx="1234440" cy="1234440"/>
          </a:xfrm>
          <a:prstGeom prst="roundRect">
            <a:avLst/>
          </a:prstGeom>
          <a:solidFill>
            <a:srgbClr val="2E7D63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우선순위</a:t>
            </a:r>
            <a:br/>
            <a: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3017520"/>
            <a:ext cx="1234440" cy="1234440"/>
          </a:xfrm>
          <a:prstGeom prst="roundRect">
            <a:avLst/>
          </a:prstGeom>
          <a:solidFill>
            <a:srgbClr val="2E7D63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우선순위</a:t>
            </a:r>
            <a:br/>
            <a:r>
              <a:t>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251960"/>
            <a:ext cx="1371600" cy="1234440"/>
          </a:xfrm>
          <a:prstGeom prst="roundRect">
            <a:avLst/>
          </a:prstGeom>
          <a:solidFill>
            <a:srgbClr val="2E7D63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C</a:t>
            </a:r>
            <a:br/>
            <a:r>
              <a:t>(5~10%)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4251960"/>
            <a:ext cx="1234440" cy="12344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우선순위</a:t>
            </a:r>
            <a:br/>
            <a:r>
              <a:t>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4251960"/>
            <a:ext cx="1234440" cy="12344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우선순위</a:t>
            </a:r>
            <a:br/>
            <a:r>
              <a:t>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4251960"/>
            <a:ext cx="1234440" cy="12344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우선순위</a:t>
            </a:r>
            <a:br/>
            <a:r>
              <a:t>11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4251960"/>
            <a:ext cx="1234440" cy="12344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우선순위</a:t>
            </a:r>
            <a:br/>
            <a:r>
              <a:t>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5486400"/>
            <a:ext cx="1371600" cy="1234440"/>
          </a:xfrm>
          <a:prstGeom prst="roundRect">
            <a:avLst/>
          </a:prstGeom>
          <a:solidFill>
            <a:srgbClr val="2E7D63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D</a:t>
            </a:r>
            <a:br/>
            <a:r>
              <a:t>(10%↓)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5486400"/>
            <a:ext cx="1234440" cy="12344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우선순위</a:t>
            </a:r>
            <a:br/>
            <a:r>
              <a:t>13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5486400"/>
            <a:ext cx="1234440" cy="12344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우선순위</a:t>
            </a:r>
            <a:br/>
            <a:r>
              <a:t>14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0" y="5486400"/>
            <a:ext cx="1234440" cy="12344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우선순위</a:t>
            </a:r>
            <a:br/>
            <a:r>
              <a:t>15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5486400"/>
            <a:ext cx="1234440" cy="12344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우선순위</a:t>
            </a:r>
            <a:br/>
            <a:r>
              <a:t>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486400"/>
            <a:ext cx="10972800" cy="82296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주등급이 먼저 · 같은 주등급 안에서 보조등급 순 · 숫자가 작을수록 점검 우선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예시 1: 연 1회 모델 갱신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raw/ 배치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42032" y="1600200"/>
            <a:ext cx="18288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파이프라인 01~10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28032" y="1600200"/>
            <a:ext cx="18288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모델 비교·평가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14032" y="1600200"/>
            <a:ext cx="18288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타겟 포착 확인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00032" y="1600200"/>
            <a:ext cx="18288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→ 추론에 사용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예시 2: 분기별 선제 점검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raw_inference/ 1~5월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42032" y="1600200"/>
            <a:ext cx="18288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추론 RF+CatBoost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28032" y="1600200"/>
            <a:ext cx="18288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Excel 우선순위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14032" y="1600200"/>
            <a:ext cx="18288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점검 계획 회의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00032" y="1600200"/>
            <a:ext cx="18288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6월 추가 후 재실행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예시 3: 주·보 불일치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주A × 보D → 과탐 가능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42032" y="1600200"/>
            <a:ext cx="18288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사유 확인 후 점검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28032" y="1600200"/>
            <a:ext cx="18288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주A × 보A → 최우선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예시 4: PC 사양 부족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사양 체크 → 부족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42032" y="1600200"/>
            <a:ext cx="18288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RF+CatBoost만 선택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28032" y="1600200"/>
            <a:ext cx="18288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05·11 실행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14032" y="1600200"/>
            <a:ext cx="18288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1371600"/>
            <a:ext cx="2103120" cy="77724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운영 기본 충분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산출 파일 위치 (로컬 · GitHub 금지)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1B5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>
                    <a:solidFill>
                      <a:srgbClr val="1B5E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Test 점수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data_root/algorithms/{algo}/scores/test/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추론 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data_root/algorithms/{algo}/scores/inference/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Test 포착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operations/ops_queue_test.xlsx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추론 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operations/ops_queue_inference.xlsx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집계 리포트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프로젝트/outputs/reports/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5E4A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320040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2E7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33333"/>
                </a:solidFill>
                <a:latin typeface="맑은 고딕"/>
              </a:rPr>
              <a:t>지방보조금 부정수급 위험도 측정 시스템</a:t>
            </a:r>
            <a:br/>
            <a:br/>
            <a:r>
              <a:t>· 로컬 PC 전용 (127.0.0.1)</a:t>
            </a:r>
            <a:br/>
            <a:r>
              <a:t>· 상세: docs/operations_criteria.md</a:t>
            </a:r>
            <a:br/>
            <a:r>
              <a:t>· 웹: RunWeb.bat → 사용자 가이드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